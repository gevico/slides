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62" r:id="rId4"/>
    <p:sldId id="263" r:id="rId5"/>
    <p:sldId id="261" r:id="rId6"/>
    <p:sldId id="265" r:id="rId7"/>
    <p:sldId id="264" r:id="rId8"/>
    <p:sldId id="267" r:id="rId9"/>
    <p:sldId id="269" r:id="rId10"/>
    <p:sldId id="268" r:id="rId11"/>
    <p:sldId id="259" r:id="rId12"/>
    <p:sldId id="266" r:id="rId13"/>
    <p:sldId id="26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515"/>
  </p:normalViewPr>
  <p:slideViewPr>
    <p:cSldViewPr snapToGrid="0">
      <p:cViewPr varScale="1">
        <p:scale>
          <a:sx n="117" d="100"/>
          <a:sy n="117" d="100"/>
        </p:scale>
        <p:origin x="6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5CA05-0A2D-A742-9267-F735107A5C8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CA0E2-3773-7944-BA07-40E44881310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562100"/>
            <a:ext cx="9144000" cy="2603500"/>
          </a:xfr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kumimoji="1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PPT</a:t>
            </a:r>
            <a:r>
              <a:rPr kumimoji="1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287520"/>
            <a:ext cx="9144000" cy="110998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作者署名</a:t>
            </a:r>
            <a:endParaRPr kumimoji="1" lang="en-US" altLang="zh-CN" dirty="0"/>
          </a:p>
          <a:p>
            <a:r>
              <a:rPr kumimoji="1" lang="en-US" altLang="zh-CN" dirty="0">
                <a:sym typeface="+mn-ea"/>
              </a:rPr>
              <a:t>QEMU </a:t>
            </a:r>
            <a:r>
              <a:rPr kumimoji="1" lang="zh-CN" altLang="en-US" dirty="0">
                <a:sym typeface="+mn-ea"/>
              </a:rPr>
              <a:t>训练营</a:t>
            </a:r>
            <a:r>
              <a:rPr kumimoji="1" lang="en-US" altLang="zh-CN" dirty="0">
                <a:sym typeface="+mn-ea"/>
              </a:rPr>
              <a:t> 2026</a:t>
            </a:r>
            <a:endParaRPr kumimoji="1"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C:/Users/zevorns/Downloads/Gevico Tech Open Community (GTOC).pngGevico Tech Open Community (GTOC)"/>
          <p:cNvPicPr>
            <a:picLocks noChangeAspect="1"/>
          </p:cNvPicPr>
          <p:nvPr userDrawn="1"/>
        </p:nvPicPr>
        <p:blipFill>
          <a:blip r:embed="rId2"/>
          <a:srcRect t="33258" b="33947"/>
          <a:stretch>
            <a:fillRect/>
          </a:stretch>
        </p:blipFill>
        <p:spPr>
          <a:xfrm>
            <a:off x="0" y="0"/>
            <a:ext cx="4829175" cy="890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4000"/>
            <a:ext cx="10515600" cy="1080000"/>
          </a:xfr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4000"/>
            <a:ext cx="10515600" cy="4795203"/>
          </a:xfr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4" descr="C:/Users/zevorns/Downloads/GTOC 格维开源社区 logo (3).pngGTOC 格维开源社区 logo (3)"/>
          <p:cNvPicPr>
            <a:picLocks noChangeAspect="1"/>
          </p:cNvPicPr>
          <p:nvPr userDrawn="1"/>
        </p:nvPicPr>
        <p:blipFill>
          <a:blip r:embed="rId2"/>
          <a:srcRect l="13824" t="20986" r="17058" b="20297"/>
          <a:stretch>
            <a:fillRect/>
          </a:stretch>
        </p:blipFill>
        <p:spPr>
          <a:xfrm>
            <a:off x="10388600" y="144145"/>
            <a:ext cx="1699260" cy="433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800" y="144000"/>
            <a:ext cx="10515600" cy="1080000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404000"/>
            <a:ext cx="5181600" cy="479520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404000"/>
            <a:ext cx="5181600" cy="479520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4" descr="C:/Users/zevorns/Downloads/GTOC 格维开源社区 logo (3).pngGTOC 格维开源社区 logo (3)"/>
          <p:cNvPicPr>
            <a:picLocks noChangeAspect="1"/>
          </p:cNvPicPr>
          <p:nvPr userDrawn="1"/>
        </p:nvPicPr>
        <p:blipFill>
          <a:blip r:embed="rId2"/>
          <a:srcRect l="13824" t="20986" r="17058" b="20297"/>
          <a:stretch>
            <a:fillRect/>
          </a:stretch>
        </p:blipFill>
        <p:spPr>
          <a:xfrm>
            <a:off x="10388600" y="144145"/>
            <a:ext cx="1699260" cy="4337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hust-open-atom-club.github.io/rust-for-qemu-insides/news/2025/rust-in-qemu-update-2025-01-28/" TargetMode="External"/><Relationship Id="rId3" Type="http://schemas.openxmlformats.org/officeDocument/2006/relationships/hyperlink" Target="https://hust-open-atom-club.github.io/rust-for-qemu-insides/news/2024/rust-in-qemu-update-2024-11-26/" TargetMode="External"/><Relationship Id="rId2" Type="http://schemas.openxmlformats.org/officeDocument/2006/relationships/hyperlink" Target="https://etherpad.opendev.org/p/KVMForum2021-QEMU+Rust-BoF" TargetMode="External"/><Relationship Id="rId1" Type="http://schemas.openxmlformats.org/officeDocument/2006/relationships/hyperlink" Target="https://blog.vmsplice.net/2020/08/why-qemu-should-move-from-c-to-rust.html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gitlab.com/qemu-project/kvm-forum/-/raw/main/_attachments/2025/kvmforum25-_baPq8gm.pdf" TargetMode="Externa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gitlab.com/qemu-project/kvm-forum/-/raw/main/_attachments/2025/kvmforum25-_baPq8gm.pdf" TargetMode="Externa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lore.kernel.org/qemu-rust/87pl8y1h3u.fsf@pond.sub.org/T/#t" TargetMode="External"/><Relationship Id="rId5" Type="http://schemas.openxmlformats.org/officeDocument/2006/relationships/hyperlink" Target="https://lore.kernel.org/qemu-rust/48bfe2bd3b11f09bd501622370ca64bdb1f68afb.1764426204.git.chenmiao@openatom.club/T/#u" TargetMode="External"/><Relationship Id="rId4" Type="http://schemas.openxmlformats.org/officeDocument/2006/relationships/hyperlink" Target="https://lore.kernel.org/qemu-rust/4e3b8548a26867260f137c719d3c26a24d7954bd.1764426204.git.chenmiao@openatom.club/T/#u" TargetMode="Externa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hyperlink" Target="%20https://www.qemu.org/docs/master/devel/rust.html&#13;" TargetMode="External"/><Relationship Id="rId8" Type="http://schemas.openxmlformats.org/officeDocument/2006/relationships/hyperlink" Target="https://hust-open-atom-club.github.io/rust-for-qemu-insides/&#13;" TargetMode="External"/><Relationship Id="rId7" Type="http://schemas.openxmlformats.org/officeDocument/2006/relationships/hyperlink" Target="https://gevico.github.io/learning-qemu-docs/" TargetMode="Externa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hyperlink" Target="https://gitlab.com/qemu-project/kvm-forum/-/raw/main/_attachments/2025/kvm_forum_r_qrqU5k5.pdf" TargetMode="External"/><Relationship Id="rId3" Type="http://schemas.openxmlformats.org/officeDocument/2006/relationships/hyperlink" Target="https://gitlab.com/qemu-project/kvm-forum/-/raw/main/_attachments/2025/kvmforum25-_baPq8gm.pdf" TargetMode="External"/><Relationship Id="rId2" Type="http://schemas.openxmlformats.org/officeDocument/2006/relationships/hyperlink" Target="https://hust-open-atom-club.github.io/rust-for-qemu-insides/news/2024/rust-in-qemu-update-2024-11-26/" TargetMode="External"/><Relationship Id="rId1" Type="http://schemas.openxmlformats.org/officeDocument/2006/relationships/hyperlink" Target="mailto:chao.liu@openatom.clu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2200" y="1562100"/>
            <a:ext cx="10006965" cy="2336800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cs typeface="Arial" panose="020B0604020202020204" pitchFamily="34" charset="0"/>
              </a:rPr>
              <a:t>PPT</a:t>
            </a:r>
            <a:r>
              <a:rPr kumimoji="1" lang="zh-CN" altLang="en-US" dirty="0">
                <a:cs typeface="Arial" panose="020B0604020202020204" pitchFamily="34" charset="0"/>
              </a:rPr>
              <a:t>标题</a:t>
            </a:r>
            <a:endParaRPr kumimoji="1" lang="zh-CN" altLang="en-US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185920"/>
            <a:ext cx="9144000" cy="1109980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sym typeface="+mn-ea"/>
              </a:rPr>
              <a:t>作者署名</a:t>
            </a:r>
            <a:endParaRPr kumimoji="1" lang="en-US" altLang="zh-CN" dirty="0"/>
          </a:p>
          <a:p>
            <a:r>
              <a:rPr kumimoji="1" lang="zh-CN" dirty="0">
                <a:sym typeface="+mn-ea"/>
              </a:rPr>
              <a:t>格维开源社区</a:t>
            </a:r>
            <a:endParaRPr kumimoji="1" 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 </a:t>
            </a:r>
            <a:r>
              <a:rPr kumimoji="1" lang="zh-CN" altLang="en-US" dirty="0"/>
              <a:t>基本介绍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7200" algn="just">
              <a:buNone/>
            </a:pPr>
            <a:r>
              <a:rPr kumimoji="1" lang="en-US" altLang="zh-CN" sz="2000" dirty="0"/>
              <a:t>QEMU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Quick Emulator</a:t>
            </a:r>
            <a:r>
              <a:rPr kumimoji="1" lang="zh-CN" altLang="en-US" sz="2000" dirty="0"/>
              <a:t>）是一个通用的开源机器模拟器和虚拟化工具，由</a:t>
            </a:r>
            <a:r>
              <a:rPr kumimoji="1" lang="en-US" altLang="zh-CN" sz="2000" dirty="0"/>
              <a:t> Fabrice Bellard </a:t>
            </a:r>
            <a:r>
              <a:rPr kumimoji="1" lang="zh-CN" altLang="en-US" sz="2000" dirty="0"/>
              <a:t>于</a:t>
            </a:r>
            <a:r>
              <a:rPr kumimoji="1" lang="en-US" altLang="zh-CN" sz="2000" dirty="0"/>
              <a:t> 2005 </a:t>
            </a:r>
            <a:r>
              <a:rPr kumimoji="1" lang="zh-CN" altLang="en-US" sz="2000" dirty="0"/>
              <a:t>年创建。它支持多种加速器（</a:t>
            </a:r>
            <a:r>
              <a:rPr kumimoji="1" lang="en-US" altLang="zh-CN" sz="2000" dirty="0"/>
              <a:t>accelator</a:t>
            </a:r>
            <a:r>
              <a:rPr kumimoji="1" lang="zh-CN" altLang="en-US" sz="2000" dirty="0"/>
              <a:t>），比如</a:t>
            </a:r>
            <a:r>
              <a:rPr kumimoji="1" lang="en-US" altLang="zh-CN" sz="2000" dirty="0"/>
              <a:t> KVM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 TCG</a:t>
            </a:r>
            <a:r>
              <a:rPr kumimoji="1" lang="zh-CN" altLang="en-US" sz="2000" dirty="0"/>
              <a:t>。前者利用硬件虚拟化机制，支持同构模拟；后者通过</a:t>
            </a:r>
            <a:r>
              <a:rPr kumimoji="1" lang="zh-CN" altLang="en-US" sz="2000" dirty="0">
                <a:sym typeface="+mn-ea"/>
              </a:rPr>
              <a:t>动态</a:t>
            </a:r>
            <a:r>
              <a:rPr kumimoji="1" lang="zh-CN" altLang="en-US" sz="2000" dirty="0"/>
              <a:t>二进制翻译技术，支持系统级模拟（</a:t>
            </a:r>
            <a:r>
              <a:rPr kumimoji="1" lang="en-US" altLang="zh-CN" sz="2000" dirty="0"/>
              <a:t>System Emulation</a:t>
            </a:r>
            <a:r>
              <a:rPr kumimoji="1" lang="zh-CN" altLang="en-US" sz="2000" dirty="0"/>
              <a:t>）和用户模式模拟（</a:t>
            </a:r>
            <a:r>
              <a:rPr kumimoji="1" lang="en-US" altLang="zh-CN" sz="2000" dirty="0"/>
              <a:t>User Mode Emulation</a:t>
            </a:r>
            <a:r>
              <a:rPr kumimoji="1" lang="zh-CN" altLang="en-US" sz="2000" dirty="0"/>
              <a:t>）。</a:t>
            </a:r>
            <a:endParaRPr kumimoji="1" lang="zh-CN" altLang="en-US" sz="2000" dirty="0"/>
          </a:p>
          <a:p>
            <a:pPr marL="0" indent="457200" algn="just">
              <a:buNone/>
            </a:pPr>
            <a:r>
              <a:rPr kumimoji="1" lang="zh-CN" altLang="en-US" sz="2000" dirty="0"/>
              <a:t>在系统级模拟（虚拟化）下，</a:t>
            </a:r>
            <a:r>
              <a:rPr kumimoji="1" lang="en-US" altLang="zh-CN" sz="2000" dirty="0"/>
              <a:t>QEMU </a:t>
            </a:r>
            <a:r>
              <a:rPr kumimoji="1" lang="zh-CN" altLang="en-US" sz="2000" dirty="0"/>
              <a:t>提供完整的虚拟机环境，包括</a:t>
            </a:r>
            <a:r>
              <a:rPr kumimoji="1" lang="en-US" altLang="zh-CN" sz="2000" dirty="0"/>
              <a:t> CPU</a:t>
            </a:r>
            <a:r>
              <a:rPr kumimoji="1" lang="zh-CN" altLang="en-US" sz="2000" dirty="0"/>
              <a:t>、内存和外围设备，允许运行客户操作系统；在用户模式模拟下，</a:t>
            </a:r>
            <a:r>
              <a:rPr kumimoji="1" lang="en-US" altLang="zh-CN" sz="2000" dirty="0"/>
              <a:t>QEMU </a:t>
            </a:r>
            <a:r>
              <a:rPr kumimoji="1" lang="zh-CN" altLang="en-US" sz="2000" dirty="0"/>
              <a:t>可以跨架构运行程序，例如在</a:t>
            </a:r>
            <a:r>
              <a:rPr kumimoji="1" lang="en-US" altLang="zh-CN" sz="2000" dirty="0"/>
              <a:t> x86 </a:t>
            </a:r>
            <a:r>
              <a:rPr kumimoji="1" lang="zh-CN" altLang="en-US" sz="2000" dirty="0"/>
              <a:t>主机上执行</a:t>
            </a:r>
            <a:r>
              <a:rPr kumimoji="1" lang="en-US" altLang="zh-CN" sz="2000" dirty="0"/>
              <a:t> RISC-V </a:t>
            </a:r>
            <a:r>
              <a:rPr kumimoji="1" lang="zh-CN" altLang="en-US" sz="2000" dirty="0"/>
              <a:t>或</a:t>
            </a:r>
            <a:r>
              <a:rPr kumimoji="1" lang="en-US" altLang="zh-CN" sz="2000" dirty="0">
                <a:sym typeface="+mn-ea"/>
              </a:rPr>
              <a:t> ARM </a:t>
            </a:r>
            <a:r>
              <a:rPr kumimoji="1" lang="zh-CN" altLang="en-US" sz="2000" dirty="0"/>
              <a:t>的二进制文件。</a:t>
            </a:r>
            <a:endParaRPr kumimoji="1"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3634105"/>
            <a:ext cx="4531360" cy="25228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590" y="3598545"/>
            <a:ext cx="4453890" cy="26015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为什么要引入</a:t>
            </a:r>
            <a:r>
              <a:rPr kumimoji="1" lang="en-US" altLang="zh-CN" dirty="0"/>
              <a:t> Rust?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 algn="just">
              <a:lnSpc>
                <a:spcPct val="110000"/>
              </a:lnSpc>
              <a:buFont typeface="Wingdings" panose="05000000000000000000" charset="0"/>
              <a:buNone/>
            </a:pPr>
            <a:r>
              <a:rPr kumimoji="1" lang="en-US" altLang="zh-CN" b="1" dirty="0"/>
              <a:t>QEMU </a:t>
            </a:r>
            <a:r>
              <a:rPr kumimoji="1" lang="zh-CN" altLang="en-US" b="1" dirty="0"/>
              <a:t>漏洞根源：</a:t>
            </a:r>
            <a:endParaRPr kumimoji="1" lang="zh-CN" altLang="en-US" b="1" dirty="0"/>
          </a:p>
          <a:p>
            <a:pPr marL="0" indent="0" algn="just">
              <a:lnSpc>
                <a:spcPct val="110000"/>
              </a:lnSpc>
              <a:buFont typeface="Wingdings" panose="05000000000000000000" charset="0"/>
              <a:buNone/>
            </a:pPr>
            <a:r>
              <a:rPr kumimoji="1" lang="en-US" altLang="zh-CN" sz="2000" dirty="0"/>
              <a:t>QEMU </a:t>
            </a:r>
            <a:r>
              <a:rPr kumimoji="1" lang="zh-CN" altLang="en-US" sz="2000" dirty="0"/>
              <a:t>多数安全漏洞（如缓冲区溢出、释放后使用等）及可能的非安全漏洞，均源于</a:t>
            </a:r>
            <a:r>
              <a:rPr kumimoji="1" lang="en-US" altLang="zh-CN" sz="2000" dirty="0"/>
              <a:t> C </a:t>
            </a:r>
            <a:r>
              <a:rPr kumimoji="1" lang="zh-CN" altLang="en-US" sz="2000" dirty="0"/>
              <a:t>语言编程错误，安全性受严重影响，可通过</a:t>
            </a:r>
            <a:r>
              <a:rPr kumimoji="1" lang="en-US" altLang="zh-CN" sz="2000" dirty="0"/>
              <a:t> CVE </a:t>
            </a:r>
            <a:r>
              <a:rPr kumimoji="1" lang="zh-CN" altLang="en-US" sz="2000" dirty="0"/>
              <a:t>列表验证。</a:t>
            </a:r>
            <a:endParaRPr kumimoji="1" lang="zh-CN" altLang="en-US" sz="2000" dirty="0"/>
          </a:p>
          <a:p>
            <a:pPr marL="0" indent="0" algn="just">
              <a:lnSpc>
                <a:spcPct val="110000"/>
              </a:lnSpc>
              <a:buFont typeface="Wingdings" panose="05000000000000000000" charset="0"/>
              <a:buNone/>
            </a:pPr>
            <a:endParaRPr kumimoji="1" lang="zh-CN" altLang="en-US" sz="2000" dirty="0"/>
          </a:p>
          <a:p>
            <a:pPr marL="0" indent="0" algn="just">
              <a:lnSpc>
                <a:spcPct val="110000"/>
              </a:lnSpc>
              <a:buFont typeface="Wingdings" panose="05000000000000000000" charset="0"/>
              <a:buNone/>
            </a:pPr>
            <a:r>
              <a:rPr kumimoji="1" lang="zh-CN" altLang="en-US" b="1" dirty="0"/>
              <a:t>传统防错方法局限：</a:t>
            </a:r>
            <a:endParaRPr kumimoji="1" lang="zh-CN" altLang="en-US" b="1" dirty="0"/>
          </a:p>
          <a:p>
            <a:pPr marL="0" indent="0" algn="just">
              <a:lnSpc>
                <a:spcPct val="110000"/>
              </a:lnSpc>
              <a:buFont typeface="Wingdings" panose="05000000000000000000" charset="0"/>
              <a:buNone/>
            </a:pPr>
            <a:r>
              <a:rPr kumimoji="1" lang="en-US" altLang="zh-CN" sz="2000" dirty="0"/>
              <a:t>QEMU </a:t>
            </a:r>
            <a:r>
              <a:rPr kumimoji="1" lang="zh-CN" altLang="en-US" sz="2000" dirty="0"/>
              <a:t>社区虽用编码规则、静态检查、测试等手段减少</a:t>
            </a:r>
            <a:r>
              <a:rPr kumimoji="1" lang="en-US" altLang="zh-CN" sz="2000" dirty="0"/>
              <a:t> C </a:t>
            </a:r>
            <a:r>
              <a:rPr kumimoji="1" lang="zh-CN" altLang="en-US" sz="2000" dirty="0"/>
              <a:t>语言错误，但仍难杜绝新漏洞，且安全</a:t>
            </a:r>
            <a:r>
              <a:rPr kumimoji="1" lang="en-US" altLang="zh-CN" sz="2000" dirty="0"/>
              <a:t> C </a:t>
            </a:r>
            <a:r>
              <a:rPr kumimoji="1" lang="zh-CN" altLang="en-US" sz="2000" dirty="0"/>
              <a:t>代码对经验要求高，阻碍新手贡献，影响代码质量一致性。</a:t>
            </a:r>
            <a:endParaRPr kumimoji="1" lang="zh-CN" altLang="en-US" sz="2000" dirty="0"/>
          </a:p>
          <a:p>
            <a:pPr marL="0" indent="0" algn="just">
              <a:lnSpc>
                <a:spcPct val="110000"/>
              </a:lnSpc>
              <a:buFont typeface="Wingdings" panose="05000000000000000000" charset="0"/>
              <a:buNone/>
            </a:pPr>
            <a:endParaRPr kumimoji="1" lang="zh-CN" altLang="en-US" sz="2000" dirty="0"/>
          </a:p>
          <a:p>
            <a:pPr marL="0" indent="0" algn="just">
              <a:lnSpc>
                <a:spcPct val="110000"/>
              </a:lnSpc>
              <a:buFont typeface="Wingdings" panose="05000000000000000000" charset="0"/>
              <a:buNone/>
            </a:pPr>
            <a:r>
              <a:rPr kumimoji="1" lang="en-US" altLang="zh-CN" b="1" dirty="0"/>
              <a:t>Rust </a:t>
            </a:r>
            <a:r>
              <a:rPr kumimoji="1" lang="zh-CN" altLang="en-US" b="1" dirty="0"/>
              <a:t>引入契机：</a:t>
            </a:r>
            <a:endParaRPr kumimoji="1" lang="zh-CN" altLang="en-US" b="1" dirty="0"/>
          </a:p>
          <a:p>
            <a:pPr marL="0" indent="0" algn="just">
              <a:lnSpc>
                <a:spcPct val="110000"/>
              </a:lnSpc>
              <a:buFont typeface="Wingdings" panose="05000000000000000000" charset="0"/>
              <a:buNone/>
            </a:pPr>
            <a:r>
              <a:rPr kumimoji="1" lang="en-US" altLang="zh-CN" sz="2000" dirty="0"/>
              <a:t>Rust </a:t>
            </a:r>
            <a:r>
              <a:rPr kumimoji="1" lang="zh-CN" altLang="en-US" sz="2000" dirty="0"/>
              <a:t>通过编译时借用检查、边界检查等设计预防内存安全漏洞；且</a:t>
            </a:r>
            <a:r>
              <a:rPr kumimoji="1" lang="en-US" altLang="zh-CN" sz="2000" dirty="0"/>
              <a:t> Rust </a:t>
            </a:r>
            <a:r>
              <a:rPr kumimoji="1" lang="zh-CN" altLang="en-US" sz="2000" dirty="0"/>
              <a:t>年轻开发者多且活跃；</a:t>
            </a:r>
            <a:r>
              <a:rPr kumimoji="1" lang="en-US" altLang="zh-CN" sz="2000" dirty="0"/>
              <a:t>Meson </a:t>
            </a:r>
            <a:r>
              <a:rPr kumimoji="1" lang="zh-CN" altLang="en-US" sz="2000" dirty="0"/>
              <a:t>支持了</a:t>
            </a:r>
            <a:r>
              <a:rPr kumimoji="1" lang="en-US" altLang="zh-CN" sz="2000" dirty="0"/>
              <a:t> cargo </a:t>
            </a:r>
            <a:r>
              <a:rPr kumimoji="1" lang="zh-CN" altLang="en-US" sz="2000" dirty="0"/>
              <a:t>构建</a:t>
            </a:r>
            <a:r>
              <a:rPr kumimoji="1" lang="en-US" altLang="zh-CN" sz="2000" dirty="0"/>
              <a:t> rust</a:t>
            </a:r>
            <a:r>
              <a:rPr kumimoji="1" lang="zh-CN" altLang="en-US" sz="2000" dirty="0"/>
              <a:t>；主要需求是提高对安全需求较高的设备的建模（而非重写</a:t>
            </a:r>
            <a:r>
              <a:rPr kumimoji="1" lang="en-US" altLang="zh-CN" sz="2000" dirty="0"/>
              <a:t> QEMU</a:t>
            </a:r>
            <a:r>
              <a:rPr kumimoji="1" lang="zh-CN" altLang="en-US" sz="2000" dirty="0"/>
              <a:t>）。</a:t>
            </a:r>
            <a:endParaRPr kumimoji="1"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Rust for QEMU </a:t>
            </a:r>
            <a:r>
              <a:rPr kumimoji="1" lang="zh-CN" altLang="en-US" dirty="0"/>
              <a:t>演进历史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内容占位符 11"/>
          <p:cNvSpPr/>
          <p:nvPr>
            <p:ph idx="1"/>
          </p:nvPr>
        </p:nvSpPr>
        <p:spPr>
          <a:xfrm>
            <a:off x="838200" y="1403985"/>
            <a:ext cx="10515600" cy="4951730"/>
          </a:xfrm>
        </p:spPr>
        <p:txBody>
          <a:bodyPr>
            <a:normAutofit lnSpcReduction="20000"/>
          </a:bodyPr>
          <a:p>
            <a:pPr>
              <a:lnSpc>
                <a:spcPct val="100000"/>
              </a:lnSpc>
            </a:pPr>
            <a:r>
              <a:rPr lang="zh-CN" altLang="en-US" b="1"/>
              <a:t>社区讨论阶段（</a:t>
            </a:r>
            <a:r>
              <a:rPr lang="en-US" altLang="zh-CN" b="1"/>
              <a:t>2020</a:t>
            </a:r>
            <a:r>
              <a:rPr lang="zh-CN" altLang="en-US" b="1"/>
              <a:t>）</a:t>
            </a:r>
            <a:endParaRPr lang="zh-CN" altLang="en-US" b="1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  </a:t>
            </a:r>
            <a:r>
              <a:rPr lang="en-US" altLang="zh-CN" sz="2000">
                <a:hlinkClick r:id="rId1" action="ppaction://hlinkfile"/>
              </a:rPr>
              <a:t>Why QEMU should move from C to Rust</a:t>
            </a:r>
            <a:r>
              <a:rPr lang="en-US" altLang="zh-CN" sz="2000"/>
              <a:t>·Stefan Hajnoczi </a:t>
            </a:r>
            <a:endParaRPr lang="en-US" altLang="zh-CN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>
                <a:sym typeface="+mn-ea"/>
              </a:rPr>
              <a:t>·</a:t>
            </a:r>
            <a:r>
              <a:rPr lang="zh-CN" altLang="en-US" b="1">
                <a:sym typeface="+mn-ea"/>
              </a:rPr>
              <a:t>早期开发阶段（</a:t>
            </a:r>
            <a:r>
              <a:rPr lang="en-US" altLang="zh-CN" b="1">
                <a:sym typeface="+mn-ea"/>
              </a:rPr>
              <a:t>2021 - 2023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  </a:t>
            </a:r>
            <a:r>
              <a:rPr lang="en-US" altLang="zh-CN" sz="2000"/>
              <a:t>1.KVM Forum 2021 </a:t>
            </a:r>
            <a:r>
              <a:rPr lang="zh-CN" altLang="en-US" sz="2000"/>
              <a:t>针对</a:t>
            </a:r>
            <a:r>
              <a:rPr lang="en-US" altLang="zh-CN" sz="2000"/>
              <a:t> </a:t>
            </a:r>
            <a:r>
              <a:rPr lang="en-US" altLang="zh-CN" sz="2000">
                <a:hlinkClick r:id="rId2" action="ppaction://hlinkfile"/>
              </a:rPr>
              <a:t>Rust </a:t>
            </a:r>
            <a:r>
              <a:rPr lang="zh-CN" altLang="en-US" sz="2000">
                <a:hlinkClick r:id="rId2" action="ppaction://hlinkfile"/>
              </a:rPr>
              <a:t>展开专题讨论</a:t>
            </a:r>
            <a:endParaRPr lang="zh-CN" altLang="en-US" sz="2000">
              <a:hlinkClick r:id="rId2" action="ppaction://hlinkfile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/>
              <a:t>   2.</a:t>
            </a:r>
            <a:r>
              <a:rPr lang="zh-CN" altLang="en-US" sz="2000"/>
              <a:t>确定技术方案以后，在主线外进行早期开发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>
                <a:sym typeface="+mn-ea"/>
              </a:rPr>
              <a:t>·</a:t>
            </a:r>
            <a:r>
              <a:rPr lang="zh-CN" altLang="en-US" b="1">
                <a:sym typeface="+mn-ea"/>
              </a:rPr>
              <a:t>主线化阶段（</a:t>
            </a:r>
            <a:r>
              <a:rPr lang="en-US" altLang="zh-CN" b="1">
                <a:sym typeface="+mn-ea"/>
              </a:rPr>
              <a:t>2024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  </a:t>
            </a:r>
            <a:r>
              <a:rPr lang="en-US" altLang="zh-CN" sz="2000"/>
              <a:t>1.</a:t>
            </a:r>
            <a:r>
              <a:rPr lang="en-US" altLang="zh-CN" sz="2000">
                <a:hlinkClick r:id="rId3" action="ppaction://hlinkfile"/>
              </a:rPr>
              <a:t>QEMU 9.2 </a:t>
            </a:r>
            <a:r>
              <a:rPr lang="zh-CN" altLang="en-US" sz="2000">
                <a:hlinkClick r:id="rId3" action="ppaction://hlinkfile"/>
              </a:rPr>
              <a:t>首次官方支持</a:t>
            </a:r>
            <a:r>
              <a:rPr lang="en-US" altLang="zh-CN" sz="2000">
                <a:hlinkClick r:id="rId3" action="ppaction://hlinkfile"/>
              </a:rPr>
              <a:t> Rust</a:t>
            </a:r>
            <a:r>
              <a:rPr lang="zh-CN" altLang="en-US" sz="2000"/>
              <a:t>，默认禁用需手动开启，</a:t>
            </a:r>
            <a:endParaRPr lang="zh-CN" altLang="en-US" sz="20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/>
              <a:t> </a:t>
            </a:r>
            <a:r>
              <a:rPr lang="en-US" altLang="zh-CN" sz="2000"/>
              <a:t>  2.</a:t>
            </a:r>
            <a:r>
              <a:rPr lang="zh-CN" altLang="en-US" sz="2000"/>
              <a:t>引入构建系统支持，核心</a:t>
            </a:r>
            <a:r>
              <a:rPr lang="en-US" altLang="zh-CN" sz="2000"/>
              <a:t> Crate</a:t>
            </a:r>
            <a:r>
              <a:rPr lang="zh-CN" altLang="en-US" sz="2000"/>
              <a:t>，</a:t>
            </a:r>
            <a:r>
              <a:rPr lang="en-US" altLang="zh-CN" sz="2000"/>
              <a:t>PL011 </a:t>
            </a:r>
            <a:r>
              <a:rPr lang="zh-CN" altLang="en-US" sz="2000"/>
              <a:t>串口设备</a:t>
            </a:r>
            <a:endParaRPr lang="zh-CN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>
                <a:sym typeface="+mn-ea"/>
              </a:rPr>
              <a:t>·</a:t>
            </a:r>
            <a:r>
              <a:rPr lang="zh-CN" altLang="en-US" b="1">
                <a:sym typeface="+mn-ea"/>
              </a:rPr>
              <a:t>功能完善</a:t>
            </a:r>
            <a:r>
              <a:rPr lang="zh-CN" altLang="en-US" b="1">
                <a:sym typeface="+mn-ea"/>
              </a:rPr>
              <a:t>阶段（</a:t>
            </a:r>
            <a:r>
              <a:rPr lang="en-US" altLang="zh-CN" b="1">
                <a:sym typeface="+mn-ea"/>
              </a:rPr>
              <a:t>2025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/>
              <a:t>  </a:t>
            </a:r>
            <a:r>
              <a:rPr lang="en-US" altLang="zh-CN" sz="2000"/>
              <a:t>1.</a:t>
            </a:r>
            <a:r>
              <a:rPr lang="en-US" altLang="zh-CN" sz="2000">
                <a:hlinkClick r:id="rId4" action="ppaction://hlinkfile"/>
              </a:rPr>
              <a:t>QEMU 10.0</a:t>
            </a:r>
            <a:r>
              <a:rPr lang="en-US" altLang="zh-CN" sz="2000"/>
              <a:t> </a:t>
            </a:r>
            <a:r>
              <a:rPr lang="zh-CN" altLang="en-US" sz="2000"/>
              <a:t>实现了</a:t>
            </a:r>
            <a:r>
              <a:rPr lang="en-US" altLang="zh-CN" sz="2000"/>
              <a:t> Rust </a:t>
            </a:r>
            <a:r>
              <a:rPr lang="zh-CN" altLang="en-US" sz="2000"/>
              <a:t>相关源码的构建稳定和测试覆盖</a:t>
            </a:r>
            <a:br>
              <a:rPr lang="zh-CN" altLang="en-US" sz="2000"/>
            </a:br>
            <a:r>
              <a:rPr lang="zh-CN" altLang="en-US" sz="2000"/>
              <a:t> </a:t>
            </a:r>
            <a:r>
              <a:rPr lang="en-US" altLang="zh-CN" sz="2000"/>
              <a:t>  2.</a:t>
            </a:r>
            <a:r>
              <a:rPr lang="zh-CN" altLang="en-US" sz="2000"/>
              <a:t>新增</a:t>
            </a:r>
            <a:r>
              <a:rPr lang="en-US" altLang="zh-CN" sz="2000"/>
              <a:t> HPET </a:t>
            </a:r>
            <a:r>
              <a:rPr lang="zh-CN" altLang="en-US" sz="2000"/>
              <a:t>设备，日志记录、</a:t>
            </a:r>
            <a:r>
              <a:rPr lang="en-US" altLang="zh-CN" sz="2000"/>
              <a:t>trace</a:t>
            </a:r>
            <a:r>
              <a:rPr lang="zh-CN" altLang="en-US" sz="2000"/>
              <a:t>、热迁移等核心功能</a:t>
            </a:r>
            <a:endParaRPr lang="zh-CN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架构演进：</a:t>
            </a:r>
            <a:r>
              <a:rPr kumimoji="1" lang="en-US" altLang="zh-CN" dirty="0"/>
              <a:t>QEMU 9.2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830580" y="1562735"/>
            <a:ext cx="6566535" cy="4266565"/>
            <a:chOff x="1508" y="1820"/>
            <a:chExt cx="12392" cy="8009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44" y="6123"/>
              <a:ext cx="12356" cy="3707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8" y="1820"/>
              <a:ext cx="12360" cy="3836"/>
            </a:xfrm>
            <a:prstGeom prst="rect">
              <a:avLst/>
            </a:prstGeom>
          </p:spPr>
        </p:pic>
        <p:sp>
          <p:nvSpPr>
            <p:cNvPr id="16" name="燕尾形箭头 15"/>
            <p:cNvSpPr/>
            <p:nvPr/>
          </p:nvSpPr>
          <p:spPr>
            <a:xfrm rot="5400000">
              <a:off x="8752" y="4575"/>
              <a:ext cx="1456" cy="1280"/>
            </a:xfrm>
            <a:prstGeom prst="notchedRightArrow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内容占位符 18"/>
          <p:cNvSpPr>
            <a:spLocks noGrp="1"/>
          </p:cNvSpPr>
          <p:nvPr>
            <p:ph idx="1"/>
          </p:nvPr>
        </p:nvSpPr>
        <p:spPr>
          <a:xfrm>
            <a:off x="8015605" y="2346960"/>
            <a:ext cx="3923030" cy="288607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000" dirty="0"/>
              <a:t>Meson:</a:t>
            </a:r>
            <a:r>
              <a:rPr kumimoji="1" lang="zh-CN" altLang="en-US" sz="2000" dirty="0"/>
              <a:t>支持</a:t>
            </a:r>
            <a:r>
              <a:rPr kumimoji="1" lang="zh-CN" altLang="en-US" sz="2000" dirty="0">
                <a:sym typeface="+mn-ea"/>
              </a:rPr>
              <a:t>构建</a:t>
            </a:r>
            <a:r>
              <a:rPr kumimoji="1" lang="en-US" altLang="zh-CN" sz="2000" dirty="0"/>
              <a:t> Rust </a:t>
            </a:r>
            <a:r>
              <a:rPr kumimoji="1" lang="zh-CN" altLang="en-US" sz="2000" dirty="0"/>
              <a:t>源码</a:t>
            </a:r>
            <a:endParaRPr kumimoji="1" lang="en-US" altLang="zh-CN" sz="2000" dirty="0"/>
          </a:p>
          <a:p>
            <a:pPr>
              <a:lnSpc>
                <a:spcPct val="110000"/>
              </a:lnSpc>
            </a:pPr>
            <a:r>
              <a:rPr kumimoji="1" lang="en-US" altLang="zh-CN" sz="2000" dirty="0"/>
              <a:t>FFI</a:t>
            </a:r>
            <a:r>
              <a:rPr kumimoji="1" lang="zh-CN" altLang="en-US" sz="2000" dirty="0"/>
              <a:t>：</a:t>
            </a:r>
            <a:r>
              <a:rPr kumimoji="1" lang="en-US" altLang="zh-CN" sz="2000" dirty="0"/>
              <a:t>bindings </a:t>
            </a:r>
            <a:r>
              <a:rPr kumimoji="1" lang="zh-CN" altLang="en-US" sz="2000" dirty="0"/>
              <a:t>导出</a:t>
            </a:r>
            <a:r>
              <a:rPr kumimoji="1" lang="en-US" altLang="zh-CN" sz="2000" dirty="0"/>
              <a:t> C </a:t>
            </a:r>
            <a:r>
              <a:rPr kumimoji="1" lang="zh-CN" altLang="en-US" sz="2000" dirty="0"/>
              <a:t>接口</a:t>
            </a:r>
            <a:endParaRPr kumimoji="1" lang="zh-CN" altLang="en-US" sz="2000" dirty="0"/>
          </a:p>
          <a:p>
            <a:pPr>
              <a:lnSpc>
                <a:spcPct val="110000"/>
              </a:lnSpc>
            </a:pPr>
            <a:r>
              <a:rPr kumimoji="1" lang="en-US" altLang="zh-CN" sz="2000" dirty="0"/>
              <a:t>usafe</a:t>
            </a:r>
            <a:r>
              <a:rPr kumimoji="1" lang="zh-CN" altLang="en-US" sz="2000" dirty="0"/>
              <a:t>：隔离不安全的代码</a:t>
            </a:r>
            <a:endParaRPr kumimoji="1" lang="zh-CN" altLang="en-US" sz="2000" dirty="0"/>
          </a:p>
          <a:p>
            <a:pPr>
              <a:lnSpc>
                <a:spcPct val="110000"/>
              </a:lnSpc>
            </a:pPr>
            <a:r>
              <a:rPr kumimoji="1" lang="en-US" altLang="zh-CN" sz="2000" dirty="0"/>
              <a:t>safe</a:t>
            </a:r>
            <a:r>
              <a:rPr kumimoji="1" lang="zh-CN" altLang="en-US" sz="2000" dirty="0"/>
              <a:t>：提供安全接口</a:t>
            </a:r>
            <a:endParaRPr kumimoji="1" lang="zh-CN" altLang="en-US" sz="2000" dirty="0"/>
          </a:p>
          <a:p>
            <a:pPr>
              <a:lnSpc>
                <a:spcPct val="110000"/>
              </a:lnSpc>
            </a:pPr>
            <a:r>
              <a:rPr kumimoji="1" lang="en-US" altLang="zh-CN" sz="2000" dirty="0"/>
              <a:t>RAII:</a:t>
            </a:r>
            <a:r>
              <a:rPr kumimoji="1" lang="zh-CN" altLang="en-US" sz="2000" dirty="0"/>
              <a:t>符合</a:t>
            </a:r>
            <a:r>
              <a:rPr kumimoji="1" lang="en-US" altLang="zh-CN" sz="2000" dirty="0"/>
              <a:t> QOM </a:t>
            </a:r>
            <a:r>
              <a:rPr kumimoji="1" lang="zh-CN" altLang="en-US" sz="2000" dirty="0"/>
              <a:t>生命周期</a:t>
            </a:r>
            <a:endParaRPr kumimoji="1" lang="zh-CN" altLang="en-US" sz="2000" dirty="0"/>
          </a:p>
          <a:p>
            <a:pPr>
              <a:lnSpc>
                <a:spcPct val="110000"/>
              </a:lnSpc>
            </a:pPr>
            <a:r>
              <a:rPr kumimoji="1" lang="zh-CN" altLang="en-US" sz="2000" dirty="0"/>
              <a:t>运行时：</a:t>
            </a:r>
            <a:r>
              <a:rPr kumimoji="1" lang="en-US" altLang="zh-CN" sz="2000" dirty="0"/>
              <a:t>BQLRefCell</a:t>
            </a:r>
            <a:endParaRPr kumimoji="1" lang="en-US" altLang="zh-CN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944880" y="5829935"/>
            <a:ext cx="609600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200" b="1">
                <a:latin typeface="仿宋" panose="02010609060101010101" charset="-122"/>
                <a:ea typeface="仿宋" panose="02010609060101010101" charset="-122"/>
                <a:sym typeface="+mn-ea"/>
                <a:hlinkClick r:id="rId3" action="ppaction://hlinkfile"/>
              </a:rPr>
              <a:t>From C to a Rust interface, brick by brick - Zhao Liu, Paolo Bonzini</a:t>
            </a:r>
            <a:endParaRPr lang="en-US" altLang="zh-CN" sz="1200" b="1">
              <a:latin typeface="仿宋" panose="02010609060101010101" charset="-122"/>
              <a:ea typeface="仿宋" panose="02010609060101010101" charset="-122"/>
              <a:sym typeface="+mn-ea"/>
              <a:hlinkClick r:id="rId3" action="ppaction://hlinkfi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架构演进：</a:t>
            </a:r>
            <a:r>
              <a:rPr kumimoji="1" lang="en-US" altLang="zh-CN" dirty="0"/>
              <a:t>QEMU 10.x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3985"/>
            <a:ext cx="10515600" cy="1087755"/>
          </a:xfrm>
        </p:spPr>
        <p:txBody>
          <a:bodyPr/>
          <a:lstStyle/>
          <a:p>
            <a:r>
              <a:rPr kumimoji="1" lang="en-US" altLang="zh-CN" dirty="0"/>
              <a:t>pl011: </a:t>
            </a:r>
            <a:r>
              <a:rPr kumimoji="1" lang="zh-CN" altLang="en-US" dirty="0"/>
              <a:t>将不安全代码作为实现绑定的参考依据</a:t>
            </a:r>
            <a:endParaRPr kumimoji="1" lang="zh-CN" altLang="en-US" dirty="0"/>
          </a:p>
          <a:p>
            <a:r>
              <a:rPr kumimoji="1" lang="en-US" altLang="zh-CN" dirty="0"/>
              <a:t>HPET</a:t>
            </a:r>
            <a:r>
              <a:rPr kumimoji="1" lang="zh-CN" altLang="en-US" dirty="0"/>
              <a:t>：从头开始编写符合</a:t>
            </a:r>
            <a:r>
              <a:rPr kumimoji="1" lang="en-US" altLang="zh-CN" dirty="0"/>
              <a:t> Rust </a:t>
            </a:r>
            <a:r>
              <a:rPr kumimoji="1" lang="zh-CN" altLang="en-US" dirty="0"/>
              <a:t>安全的设备代码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505" y="2835910"/>
            <a:ext cx="5860415" cy="26689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080" y="1336675"/>
            <a:ext cx="2712720" cy="49072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02030" y="5728335"/>
            <a:ext cx="609600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200" b="1">
                <a:latin typeface="仿宋" panose="02010609060101010101" charset="-122"/>
                <a:ea typeface="仿宋" panose="02010609060101010101" charset="-122"/>
                <a:sym typeface="+mn-ea"/>
                <a:hlinkClick r:id="rId3" action="ppaction://hlinkfile"/>
              </a:rPr>
              <a:t>From C to a Rust interface, brick by brick - Zhao Liu, Paolo Bonzini</a:t>
            </a:r>
            <a:endParaRPr lang="en-US" altLang="zh-CN" sz="1200" b="1">
              <a:latin typeface="仿宋" panose="02010609060101010101" charset="-122"/>
              <a:ea typeface="仿宋" panose="02010609060101010101" charset="-122"/>
              <a:sym typeface="+mn-ea"/>
              <a:hlinkClick r:id="rId3" action="ppaction://hlinkfi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编程对比：</a:t>
            </a:r>
            <a:r>
              <a:rPr kumimoji="1" lang="zh-CN" altLang="en-US" dirty="0"/>
              <a:t>数据结构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5145" y="1183640"/>
            <a:ext cx="1522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版本：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83910" y="1183640"/>
            <a:ext cx="19030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Rust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版本：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9160" y="1704340"/>
            <a:ext cx="4781550" cy="443039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45" y="1694180"/>
            <a:ext cx="4596130" cy="445071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编程对比：</a:t>
            </a:r>
            <a:r>
              <a:rPr kumimoji="1" lang="zh-CN" altLang="en-US" dirty="0"/>
              <a:t>初始化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95" y="1704340"/>
            <a:ext cx="4939030" cy="254762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910" y="1704340"/>
            <a:ext cx="5924550" cy="396049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525145" y="1183640"/>
            <a:ext cx="1522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版本：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83910" y="1183640"/>
            <a:ext cx="19030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Rust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版本：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5145" y="4382135"/>
            <a:ext cx="4660265" cy="1374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主要差异：</a:t>
            </a:r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·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编译器确保不会使用未初始化的数据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·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编译时保证所有字段都被正确初始化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·uninit_field_mut!()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安全地初始化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编程对比：访问</a:t>
            </a:r>
            <a:r>
              <a:rPr kumimoji="1" lang="zh-CN" altLang="en-US" dirty="0"/>
              <a:t>寄存器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5145" y="1183640"/>
            <a:ext cx="1522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版本：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83910" y="1183640"/>
            <a:ext cx="19030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Rust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版本：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11624"/>
          <a:stretch>
            <a:fillRect/>
          </a:stretch>
        </p:blipFill>
        <p:spPr>
          <a:xfrm>
            <a:off x="595630" y="1710690"/>
            <a:ext cx="4774565" cy="343662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910" y="1710690"/>
            <a:ext cx="5791200" cy="414845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525" y="3960495"/>
            <a:ext cx="4988560" cy="22002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085" y="5010785"/>
            <a:ext cx="1327150" cy="3435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290" y="2761615"/>
            <a:ext cx="2795270" cy="14014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现状分析：初步完善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提供完整的</a:t>
            </a:r>
            <a:r>
              <a:rPr kumimoji="1" lang="en-US" altLang="zh-CN" dirty="0"/>
              <a:t> QOM of Rust </a:t>
            </a:r>
            <a:r>
              <a:rPr kumimoji="1" lang="zh-CN" altLang="en-US" dirty="0"/>
              <a:t>抽象：设备创建、实例化、销毁</a:t>
            </a:r>
            <a:endParaRPr kumimoji="1" lang="zh-CN" altLang="en-US" dirty="0"/>
          </a:p>
          <a:p>
            <a:r>
              <a:rPr kumimoji="1" lang="zh-CN" altLang="en-US" dirty="0"/>
              <a:t>支持了</a:t>
            </a:r>
            <a:r>
              <a:rPr kumimoji="1" lang="en-US" altLang="zh-CN" dirty="0"/>
              <a:t> MemoryRegion</a:t>
            </a:r>
            <a:r>
              <a:rPr kumimoji="1" lang="zh-CN" altLang="en-US" dirty="0"/>
              <a:t>、</a:t>
            </a:r>
            <a:r>
              <a:rPr kumimoji="1" lang="en-US" altLang="zh-CN" dirty="0"/>
              <a:t>IRQ</a:t>
            </a:r>
            <a:r>
              <a:rPr kumimoji="1" lang="zh-CN" altLang="en-US" dirty="0"/>
              <a:t>、</a:t>
            </a:r>
            <a:r>
              <a:rPr kumimoji="1" lang="en-US" altLang="zh-CN" dirty="0">
                <a:sym typeface="+mn-ea"/>
              </a:rPr>
              <a:t>SysBus </a:t>
            </a:r>
            <a:r>
              <a:rPr kumimoji="1" lang="zh-CN" altLang="en-US" dirty="0"/>
              <a:t>等核心组件</a:t>
            </a:r>
            <a:endParaRPr kumimoji="1" lang="zh-CN" altLang="en-US" dirty="0"/>
          </a:p>
          <a:p>
            <a:r>
              <a:rPr kumimoji="1" lang="zh-CN" altLang="en-US" dirty="0"/>
              <a:t>完善了设备热迁移、日志调试、错误处理等功能</a:t>
            </a:r>
            <a:endParaRPr kumimoji="1" lang="zh-CN" altLang="en-US" dirty="0"/>
          </a:p>
          <a:p>
            <a:r>
              <a:rPr kumimoji="1" lang="en-US" altLang="zh-CN" dirty="0">
                <a:hlinkClick r:id="rId4" action="ppaction://hlinkfile"/>
              </a:rPr>
              <a:t>RFC: </a:t>
            </a:r>
            <a:r>
              <a:rPr kumimoji="1" lang="zh-CN" altLang="en-US" dirty="0">
                <a:hlinkClick r:id="rId4" action="ppaction://hlinkfile"/>
              </a:rPr>
              <a:t>新增</a:t>
            </a:r>
            <a:r>
              <a:rPr kumimoji="1" lang="en-US" altLang="zh-CN" dirty="0">
                <a:hlinkClick r:id="rId4" action="ppaction://hlinkfile"/>
              </a:rPr>
              <a:t> BusClass</a:t>
            </a:r>
            <a:r>
              <a:rPr kumimoji="1" lang="zh-CN" altLang="en-US" dirty="0">
                <a:hlinkClick r:id="rId4" action="ppaction://hlinkfile"/>
              </a:rPr>
              <a:t>，支持更广泛的硬件建模</a:t>
            </a:r>
            <a:endParaRPr kumimoji="1" lang="zh-CN" altLang="en-US" dirty="0"/>
          </a:p>
          <a:p>
            <a:r>
              <a:rPr kumimoji="1" lang="en-US" altLang="zh-CN" dirty="0">
                <a:hlinkClick r:id="rId5" action="ppaction://hlinkfile"/>
              </a:rPr>
              <a:t>RFC</a:t>
            </a:r>
            <a:r>
              <a:rPr kumimoji="1" lang="zh-CN" altLang="en-US" dirty="0">
                <a:hlinkClick r:id="rId5" action="ppaction://hlinkfile"/>
              </a:rPr>
              <a:t>：新增</a:t>
            </a:r>
            <a:r>
              <a:rPr kumimoji="1" lang="en-US" altLang="zh-CN" dirty="0">
                <a:hlinkClick r:id="rId5" action="ppaction://hlinkfile"/>
              </a:rPr>
              <a:t> I2CBus </a:t>
            </a:r>
            <a:r>
              <a:rPr kumimoji="1" lang="zh-CN" altLang="en-US" dirty="0">
                <a:hlinkClick r:id="rId5" action="ppaction://hlinkfile"/>
              </a:rPr>
              <a:t>和</a:t>
            </a:r>
            <a:r>
              <a:rPr kumimoji="1" lang="en-US" altLang="zh-CN" dirty="0">
                <a:hlinkClick r:id="rId5" action="ppaction://hlinkfile"/>
              </a:rPr>
              <a:t> pcf8574 </a:t>
            </a:r>
            <a:r>
              <a:rPr kumimoji="1" lang="zh-CN" altLang="en-US" dirty="0">
                <a:hlinkClick r:id="rId5" action="ppaction://hlinkfile"/>
              </a:rPr>
              <a:t>设备模型</a:t>
            </a:r>
            <a:endParaRPr kumimoji="1" lang="zh-CN" altLang="en-US" dirty="0">
              <a:hlinkClick r:id="rId5" action="ppaction://hlinkfile"/>
            </a:endParaRPr>
          </a:p>
          <a:p>
            <a:r>
              <a:rPr kumimoji="1" lang="en-US" altLang="zh-CN" dirty="0">
                <a:hlinkClick r:id="rId6" action="ppaction://hlinkfile"/>
              </a:rPr>
              <a:t>WIP</a:t>
            </a:r>
            <a:r>
              <a:rPr kumimoji="1" lang="zh-CN" altLang="en-US" dirty="0">
                <a:hlinkClick r:id="rId6" action="ppaction://hlinkfile"/>
              </a:rPr>
              <a:t>：新增</a:t>
            </a:r>
            <a:r>
              <a:rPr kumimoji="1" lang="en-US" altLang="zh-CN" dirty="0">
                <a:hlinkClick r:id="rId6" action="ppaction://hlinkfile"/>
              </a:rPr>
              <a:t> GStreamer audio backend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zh-CN" altLang="en-US" dirty="0"/>
              <a:t>贡献指南</a:t>
            </a:r>
            <a:endParaRPr kumimoji="1" lang="en-US" altLang="zh-CN" kern="700" dirty="0">
              <a:solidFill>
                <a:schemeClr val="tx1"/>
              </a:solidFill>
              <a:uFillTx/>
            </a:endParaRPr>
          </a:p>
        </p:txBody>
      </p:sp>
      <p:sp>
        <p:nvSpPr>
          <p:cNvPr id="3" name="内容占位符 2" descr="7b0a202020202262756c6c6574223a20227b5c2263617465676f727949645c223a5c225c222c5c2274656d706c61746549645c223a32303233313734347d220a7d0a"/>
          <p:cNvSpPr>
            <a:spLocks noGrp="1"/>
          </p:cNvSpPr>
          <p:nvPr>
            <p:ph idx="1"/>
          </p:nvPr>
        </p:nvSpPr>
        <p:spPr>
          <a:xfrm>
            <a:off x="838200" y="1403985"/>
            <a:ext cx="10515600" cy="4952365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zh-CN" altLang="en-US" dirty="0"/>
              <a:t>学习路线：</a:t>
            </a:r>
            <a:endParaRPr kumimoji="1" lang="zh-CN" altLang="en-US" dirty="0"/>
          </a:p>
          <a:p>
            <a:pPr lvl="1">
              <a:lnSpc>
                <a:spcPct val="110000"/>
              </a:lnSpc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kumimoji="1" lang="zh-CN" dirty="0"/>
              <a:t>掌握</a:t>
            </a:r>
            <a:r>
              <a:rPr kumimoji="1" lang="en-US" altLang="zh-CN" dirty="0"/>
              <a:t> QEMU </a:t>
            </a:r>
            <a:r>
              <a:rPr kumimoji="1" lang="zh-CN" altLang="en-US" dirty="0"/>
              <a:t>硬件建模原理及常用</a:t>
            </a:r>
            <a:r>
              <a:rPr kumimoji="1" lang="en-US" altLang="zh-CN" dirty="0"/>
              <a:t> API</a:t>
            </a:r>
            <a:endParaRPr kumimoji="1" lang="zh-CN" dirty="0"/>
          </a:p>
          <a:p>
            <a:pPr lvl="1">
              <a:lnSpc>
                <a:spcPct val="110000"/>
              </a:lnSpc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kumimoji="1" lang="zh-CN" altLang="en-US" dirty="0"/>
              <a:t>掌握</a:t>
            </a:r>
            <a:r>
              <a:rPr kumimoji="1" lang="en-US" altLang="zh-CN" dirty="0"/>
              <a:t> Rust </a:t>
            </a:r>
            <a:r>
              <a:rPr kumimoji="1" lang="zh-CN" altLang="en-US" dirty="0"/>
              <a:t>常用知识：所有权、生命周期、常用</a:t>
            </a:r>
            <a:r>
              <a:rPr kumimoji="1" lang="en-US" altLang="zh-CN" dirty="0"/>
              <a:t> crate</a:t>
            </a:r>
            <a:endParaRPr kumimoji="1" lang="zh-CN" altLang="en-US" dirty="0"/>
          </a:p>
          <a:p>
            <a:pPr>
              <a:lnSpc>
                <a:spcPct val="110000"/>
              </a:lnSpc>
            </a:pPr>
            <a:r>
              <a:rPr kumimoji="1" lang="zh-CN" altLang="en-US" dirty="0"/>
              <a:t>贡献指南：</a:t>
            </a:r>
            <a:endParaRPr kumimoji="1" lang="zh-CN" altLang="en-US" dirty="0"/>
          </a:p>
          <a:p>
            <a:pPr lvl="1">
              <a:lnSpc>
                <a:spcPct val="11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kumimoji="1" lang="zh-CN" altLang="en-US" dirty="0">
                <a:sym typeface="+mn-ea"/>
              </a:rPr>
              <a:t>支持</a:t>
            </a:r>
            <a:r>
              <a:rPr kumimoji="1" lang="en-US" altLang="zh-CN" dirty="0">
                <a:sym typeface="+mn-ea"/>
              </a:rPr>
              <a:t> Block Device</a:t>
            </a:r>
            <a:endParaRPr kumimoji="1" lang="en-US" altLang="zh-CN" dirty="0"/>
          </a:p>
          <a:p>
            <a:pPr lvl="1">
              <a:lnSpc>
                <a:spcPct val="11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kumimoji="1" lang="zh-CN" altLang="en-US" dirty="0">
                <a:sym typeface="+mn-ea"/>
              </a:rPr>
              <a:t>清理</a:t>
            </a:r>
            <a:r>
              <a:rPr kumimoji="1" lang="en-US" altLang="zh-CN" dirty="0">
                <a:sym typeface="+mn-ea"/>
              </a:rPr>
              <a:t> Unsafe Code</a:t>
            </a:r>
            <a:endParaRPr kumimoji="1" lang="en-US" altLang="zh-CN" dirty="0"/>
          </a:p>
          <a:p>
            <a:pPr lvl="1">
              <a:lnSpc>
                <a:spcPct val="11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kumimoji="1" lang="zh-CN" altLang="en-US" dirty="0">
                <a:sym typeface="+mn-ea"/>
              </a:rPr>
              <a:t>简化</a:t>
            </a:r>
            <a:r>
              <a:rPr kumimoji="1" lang="en-US" altLang="zh-CN" dirty="0">
                <a:sym typeface="+mn-ea"/>
              </a:rPr>
              <a:t> Meson Build Script</a:t>
            </a:r>
            <a:endParaRPr kumimoji="1" lang="zh-CN" altLang="en-US" dirty="0"/>
          </a:p>
          <a:p>
            <a:pPr>
              <a:lnSpc>
                <a:spcPct val="110000"/>
              </a:lnSpc>
            </a:pPr>
            <a:r>
              <a:rPr kumimoji="1" lang="zh-CN" altLang="en-US" dirty="0"/>
              <a:t>参考文档：</a:t>
            </a:r>
            <a:endParaRPr kumimoji="1" lang="zh-CN" altLang="en-US" dirty="0"/>
          </a:p>
          <a:p>
            <a:pPr lvl="1">
              <a:lnSpc>
                <a:spcPct val="1100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kumimoji="1" lang="en-US" altLang="zh-CN" sz="2335" dirty="0">
                <a:hlinkClick r:id="rId7" action="ppaction://hlinkfile"/>
              </a:rPr>
              <a:t>Learning QEMU Docs</a:t>
            </a:r>
            <a:r>
              <a:rPr kumimoji="1" lang="en-US" altLang="zh-CN" sz="2335" dirty="0"/>
              <a:t>: QEMU </a:t>
            </a:r>
            <a:r>
              <a:rPr kumimoji="1" lang="zh-CN" altLang="en-US" sz="2335" dirty="0"/>
              <a:t>硬件建模原理</a:t>
            </a:r>
            <a:endParaRPr kumimoji="1" lang="zh-CN" altLang="en-US" sz="2335" dirty="0"/>
          </a:p>
          <a:p>
            <a:pPr lvl="1">
              <a:lnSpc>
                <a:spcPct val="1100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kumimoji="1" lang="en-US" altLang="zh-CN" sz="2315" dirty="0">
                <a:sym typeface="+mn-ea"/>
                <a:hlinkClick r:id="rId8" action="ppaction://hlinkfile"/>
              </a:rPr>
              <a:t>Rust for QEMU Insides</a:t>
            </a:r>
            <a:r>
              <a:rPr kumimoji="1" lang="zh-CN" altLang="en-US" sz="2315" dirty="0">
                <a:sym typeface="+mn-ea"/>
              </a:rPr>
              <a:t>：技术文档、博客、上游新闻</a:t>
            </a:r>
            <a:endParaRPr kumimoji="1" lang="zh-CN" altLang="en-US" sz="2315" dirty="0">
              <a:sym typeface="+mn-ea"/>
            </a:endParaRPr>
          </a:p>
          <a:p>
            <a:pPr lvl="1">
              <a:lnSpc>
                <a:spcPct val="1100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kumimoji="1" lang="en-US" altLang="zh-CN" sz="2315" dirty="0">
                <a:sym typeface="+mn-ea"/>
                <a:hlinkClick r:id="rId9" action="ppaction://hlinkfile"/>
              </a:rPr>
              <a:t>Rust for QEMU </a:t>
            </a:r>
            <a:r>
              <a:rPr kumimoji="1" lang="zh-CN" altLang="en-US" sz="2315" dirty="0">
                <a:sym typeface="+mn-ea"/>
                <a:hlinkClick r:id="rId9" action="ppaction://hlinkfile"/>
              </a:rPr>
              <a:t>官方文档</a:t>
            </a:r>
            <a:r>
              <a:rPr kumimoji="1" lang="zh-CN" altLang="en-US" sz="2315" dirty="0">
                <a:sym typeface="+mn-ea"/>
              </a:rPr>
              <a:t>：</a:t>
            </a:r>
            <a:r>
              <a:rPr kumimoji="1" lang="en-US" altLang="zh-CN" sz="2315" dirty="0">
                <a:sym typeface="+mn-ea"/>
              </a:rPr>
              <a:t>Rust </a:t>
            </a:r>
            <a:r>
              <a:rPr kumimoji="1" lang="zh-CN" altLang="en-US" sz="2315" dirty="0">
                <a:sym typeface="+mn-ea"/>
              </a:rPr>
              <a:t>代码规范、编译流程、开发指南</a:t>
            </a:r>
            <a:endParaRPr kumimoji="1" lang="zh-CN" altLang="en-US" sz="2315" dirty="0"/>
          </a:p>
          <a:p>
            <a:pPr marL="0" lvl="1">
              <a:lnSpc>
                <a:spcPct val="110000"/>
              </a:lnSpc>
            </a:pPr>
            <a:endParaRPr kumimoji="1" lang="zh-CN" altLang="en-US" dirty="0">
              <a:sym typeface="+mn-ea"/>
            </a:endParaRPr>
          </a:p>
          <a:p>
            <a:pPr lvl="1">
              <a:lnSpc>
                <a:spcPct val="110000"/>
              </a:lnSpc>
            </a:pPr>
            <a:endParaRPr kumimoji="1" lang="zh-CN" altLang="en-US" dirty="0"/>
          </a:p>
          <a:p>
            <a:pPr lvl="1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致谢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姓名：泽文</a:t>
            </a:r>
            <a:endParaRPr kumimoji="1" lang="zh-CN" altLang="en-US" dirty="0"/>
          </a:p>
          <a:p>
            <a:r>
              <a:rPr kumimoji="1" lang="zh-CN" altLang="en-US" dirty="0"/>
              <a:t>邮箱：</a:t>
            </a:r>
            <a:r>
              <a:rPr kumimoji="1" lang="en-US" altLang="zh-CN" dirty="0">
                <a:hlinkClick r:id="rId1"/>
              </a:rPr>
              <a:t>chao.liu</a:t>
            </a:r>
            <a:r>
              <a:rPr kumimoji="1" lang="en-US" altLang="zh-CN" dirty="0">
                <a:hlinkClick r:id="rId1"/>
              </a:rPr>
              <a:t>@openatom.club</a:t>
            </a:r>
            <a:endParaRPr kumimoji="1" lang="en-US" altLang="zh-CN" dirty="0"/>
          </a:p>
          <a:p>
            <a:r>
              <a:rPr kumimoji="1" lang="en-US" altLang="zh-CN" dirty="0" err="1"/>
              <a:t>Github</a:t>
            </a:r>
            <a:r>
              <a:rPr kumimoji="1" lang="zh-CN" altLang="en-US" dirty="0"/>
              <a:t> </a:t>
            </a:r>
            <a:r>
              <a:rPr kumimoji="1" lang="en-US" altLang="zh-CN" dirty="0"/>
              <a:t>ID:</a:t>
            </a:r>
            <a:r>
              <a:rPr kumimoji="1" lang="zh-CN" altLang="en-US" dirty="0"/>
              <a:t> </a:t>
            </a:r>
            <a:r>
              <a:rPr kumimoji="1" lang="en-US" altLang="zh-CN" dirty="0"/>
              <a:t>@</a:t>
            </a:r>
            <a:r>
              <a:rPr kumimoji="1" lang="en-US" altLang="zh-CN" dirty="0" err="1"/>
              <a:t>zevorn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507095" y="5019040"/>
            <a:ext cx="3265805" cy="7067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b="1" i="0" dirty="0">
                <a:solidFill>
                  <a:srgbClr val="353535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公众号</a:t>
            </a:r>
            <a:r>
              <a:rPr lang="zh-CN" altLang="en-US" sz="1600" b="0" i="0" dirty="0">
                <a:solidFill>
                  <a:srgbClr val="353535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lang="en-US" altLang="zh-CN" sz="1600" b="0" i="0" dirty="0">
                <a:solidFill>
                  <a:srgbClr val="353535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GTOC</a:t>
            </a:r>
            <a:endParaRPr lang="en-US" altLang="zh-CN" sz="1600" b="0" i="0" dirty="0">
              <a:solidFill>
                <a:srgbClr val="353535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600" b="1" dirty="0">
                <a:solidFill>
                  <a:srgbClr val="35353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微信号</a:t>
            </a:r>
            <a:r>
              <a:rPr lang="zh-CN" altLang="en-US" sz="1600" dirty="0">
                <a:solidFill>
                  <a:srgbClr val="35353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lang="en-US" altLang="zh-CN" sz="1600" dirty="0" err="1">
                <a:solidFill>
                  <a:srgbClr val="35353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gevico-vx</a:t>
            </a:r>
            <a:endParaRPr lang="en-US" altLang="zh-CN" sz="1600" dirty="0" err="1">
              <a:solidFill>
                <a:srgbClr val="35353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38200" y="3585210"/>
            <a:ext cx="6893560" cy="128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仿宋" panose="02010609060101010101" charset="-122"/>
                <a:ea typeface="仿宋" panose="02010609060101010101" charset="-122"/>
              </a:rPr>
              <a:t>参考链接：</a:t>
            </a:r>
            <a:endParaRPr lang="zh-CN" altLang="en-US" b="1">
              <a:latin typeface="仿宋" panose="02010609060101010101" charset="-122"/>
              <a:ea typeface="仿宋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>
                <a:latin typeface="仿宋" panose="02010609060101010101" charset="-122"/>
                <a:ea typeface="仿宋" panose="02010609060101010101" charset="-122"/>
              </a:rPr>
              <a:t>[1] </a:t>
            </a:r>
            <a:r>
              <a:rPr lang="en-US" altLang="zh-CN" sz="1400" b="1">
                <a:latin typeface="仿宋" panose="02010609060101010101" charset="-122"/>
                <a:ea typeface="仿宋" panose="02010609060101010101" charset="-122"/>
                <a:hlinkClick r:id="rId2" action="ppaction://hlinkfile"/>
              </a:rPr>
              <a:t>Rust in QEMU roadmap - Paolo Bonzini</a:t>
            </a:r>
            <a:endParaRPr lang="en-US" altLang="zh-CN" sz="1400" b="1">
              <a:latin typeface="仿宋" panose="02010609060101010101" charset="-122"/>
              <a:ea typeface="仿宋" panose="02010609060101010101" charset="-122"/>
              <a:hlinkClick r:id="rId2" action="ppaction://hlinkfile"/>
            </a:endParaRPr>
          </a:p>
          <a:p>
            <a:pPr>
              <a:lnSpc>
                <a:spcPct val="130000"/>
              </a:lnSpc>
            </a:pPr>
            <a:r>
              <a:rPr lang="en-US" altLang="zh-CN" sz="1400" b="1">
                <a:latin typeface="仿宋" panose="02010609060101010101" charset="-122"/>
                <a:ea typeface="仿宋" panose="02010609060101010101" charset="-122"/>
              </a:rPr>
              <a:t>[2] </a:t>
            </a:r>
            <a:r>
              <a:rPr lang="en-US" altLang="zh-CN" sz="1400" b="1">
                <a:latin typeface="仿宋" panose="02010609060101010101" charset="-122"/>
                <a:ea typeface="仿宋" panose="02010609060101010101" charset="-122"/>
                <a:hlinkClick r:id="rId3" action="ppaction://hlinkfile"/>
              </a:rPr>
              <a:t>From C to a Rust interface, brick by brick - Zhao Liu, Paolo Bonzini</a:t>
            </a:r>
            <a:endParaRPr lang="en-US" altLang="zh-CN" sz="1400" b="1">
              <a:latin typeface="仿宋" panose="02010609060101010101" charset="-122"/>
              <a:ea typeface="仿宋" panose="02010609060101010101" charset="-122"/>
              <a:hlinkClick r:id="rId3" action="ppaction://hlinkfile"/>
            </a:endParaRPr>
          </a:p>
          <a:p>
            <a:pPr>
              <a:lnSpc>
                <a:spcPct val="130000"/>
              </a:lnSpc>
            </a:pPr>
            <a:r>
              <a:rPr lang="en-US" altLang="zh-CN" sz="1400" b="1">
                <a:latin typeface="仿宋" panose="02010609060101010101" charset="-122"/>
                <a:ea typeface="仿宋" panose="02010609060101010101" charset="-122"/>
              </a:rPr>
              <a:t>[3] </a:t>
            </a:r>
            <a:r>
              <a:rPr lang="en-US" altLang="zh-CN" sz="1400" b="1">
                <a:latin typeface="仿宋" panose="02010609060101010101" charset="-122"/>
                <a:ea typeface="仿宋" panose="02010609060101010101" charset="-122"/>
                <a:hlinkClick r:id="rId4" action="ppaction://hlinkfile"/>
              </a:rPr>
              <a:t>Rust in QEMU: strengths and challenges - Manos Pitsidianakis</a:t>
            </a:r>
            <a:r>
              <a:rPr lang="en-US" altLang="zh-CN" sz="1400" b="1">
                <a:latin typeface="仿宋" panose="02010609060101010101" charset="-122"/>
                <a:ea typeface="仿宋" panose="02010609060101010101" charset="-122"/>
              </a:rPr>
              <a:t> </a:t>
            </a:r>
            <a:endParaRPr lang="en-US" altLang="zh-CN" sz="1400" b="1"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8681085" y="1790700"/>
            <a:ext cx="3276600" cy="3276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2048</Words>
  <Application>WPS 演示</Application>
  <PresentationFormat>宽屏</PresentationFormat>
  <Paragraphs>137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楷体</vt:lpstr>
      <vt:lpstr>Wingdings</vt:lpstr>
      <vt:lpstr>仿宋</vt:lpstr>
      <vt:lpstr>微软雅黑</vt:lpstr>
      <vt:lpstr>Arial Unicode MS</vt:lpstr>
      <vt:lpstr>等线</vt:lpstr>
      <vt:lpstr>Office 主题​​</vt:lpstr>
      <vt:lpstr>PPT标题</vt:lpstr>
      <vt:lpstr>QEMU 基本介绍</vt:lpstr>
      <vt:lpstr>为什么要引入 Rust?</vt:lpstr>
      <vt:lpstr>Rust for QEMU 演进历史</vt:lpstr>
      <vt:lpstr>架构演进：QEMU 9.2</vt:lpstr>
      <vt:lpstr>架构演进：QEMU 10.x</vt:lpstr>
      <vt:lpstr>编程对比：数据结构</vt:lpstr>
      <vt:lpstr>编程对比：初始化</vt:lpstr>
      <vt:lpstr>编程对比：访问寄存器</vt:lpstr>
      <vt:lpstr>现状分析：初步完善</vt:lpstr>
      <vt:lpstr>贡献指南</vt:lpstr>
      <vt:lpstr>致谢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dongliang mu</dc:creator>
  <cp:lastModifiedBy>泽文</cp:lastModifiedBy>
  <cp:revision>85</cp:revision>
  <dcterms:created xsi:type="dcterms:W3CDTF">2024-03-13T09:29:00Z</dcterms:created>
  <dcterms:modified xsi:type="dcterms:W3CDTF">2026-01-08T06:16:28Z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A00D75315CF04E38990BD0421D0A4B2E_13</vt:lpwstr>
  </property>
  <property fmtid="{D5CDD505-2E9C-101B-9397-08002B2CF9AE}" pid="3" name="KSOProductBuildVer">
    <vt:lpwstr>2052-12.1.0.24034</vt:lpwstr>
  </property>
</Properties>
</file>